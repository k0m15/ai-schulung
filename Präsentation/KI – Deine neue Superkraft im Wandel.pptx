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24F21E-8286-446F-8265-6D47CA057B2A}">
  <a:tblStyle styleId="{6B24F21E-8286-446F-8265-6D47CA057B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Lato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bc28b07b5_0_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a693f53f3_0_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bc28b07b5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bc28b07b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bc28b07b5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bc28b07b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9a693f53f3_15_0)">
  <p:cSld name="Generated (g39a693f53f3_15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4.png"/><Relationship Id="rId5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hyperlink" Target="http://www.youtube.com/watch?v=EsP_AeQ_Iew" TargetMode="External"/><Relationship Id="rId5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Hx_9kTTWcR8" TargetMode="External"/><Relationship Id="rId4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9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95275" y="213449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KI – Deine neue Superkraft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71500" y="3467992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A36C"/>
                </a:solidFill>
                <a:latin typeface="Lato"/>
                <a:ea typeface="Lato"/>
                <a:cs typeface="Lato"/>
                <a:sym typeface="Lato"/>
              </a:rPr>
              <a:t>Wandel als Chance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71500" y="422046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Referent: Alain Felger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 rotWithShape="1">
          <a:blip r:embed="rId4">
            <a:alphaModFix/>
          </a:blip>
          <a:srcRect b="39083" l="44567" r="17090" t="2303"/>
          <a:stretch/>
        </p:blipFill>
        <p:spPr>
          <a:xfrm>
            <a:off x="1143000" y="1833161"/>
            <a:ext cx="4095600" cy="41727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1776412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1871662"/>
            <a:ext cx="1476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6381750" y="2756594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Alain Felger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381750" y="3185219"/>
            <a:ext cx="523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Teamleiter Betriebsraum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6381750" y="3669059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Prüfer für Molkereitechnologen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381750" y="415290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Programmier-Student (Schule 42)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381750" y="463674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KI-Enthusiast &amp; Praktiker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21855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70239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1862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1750" y="4670077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Wer spricht heute zu euch?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2165"/>
            <a:ext cx="5381625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22165"/>
            <a:ext cx="5381625" cy="31945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2107168" y="3369915"/>
            <a:ext cx="23102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Neue Situationen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57250" y="4093815"/>
            <a:ext cx="48101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Betriebsschließung bedeutet Neuanfang. Ob neue Stelle, Selbstständigkeit oder Rente – Anpassung ist unsere größte Stärke.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769542" y="3369915"/>
            <a:ext cx="23202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Bekannte Muster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524625" y="4093815"/>
            <a:ext cx="48101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Wie früher Abfüllmaschinen oder SAP, müssen wir uns jetzt in neue Programme und Werkzeuge einarbeiten.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5612" y="265554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1562" y="265554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Gemeinsam im Wandel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2165"/>
            <a:ext cx="3492549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2165"/>
            <a:ext cx="3492549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2165"/>
            <a:ext cx="3492549" cy="31945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367581" y="3369915"/>
            <a:ext cx="19002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Bewerbungen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57250" y="4093815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Lebensläufe &amp; Anschreiben perfekt auf Wunschstellen anpassen.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405913" y="3369915"/>
            <a:ext cx="138017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Gründung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35549" y="4093815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Businesspläne erstellen &amp; Strategien für die Selbstständigkeit entwickeln.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464248" y="3369915"/>
            <a:ext cx="82010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Alltag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13849" y="4093815"/>
            <a:ext cx="29210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Ernährungspläne, Fitnesspläne oder Hilfe beim Heimwerken.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6725" y="265554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65554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65554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Was kann KI konkret für dich tun?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DFCF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2646164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Erinnert euch an euer Handwerkszeug: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097684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 ist wie ein moderner Kugelschreiber: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 Zukunft wird jeder sie benutzen, um Gedanken effizienter zu Papier (oder Code) zu bringen.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36614"/>
            <a:ext cx="5238750" cy="296584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28675" y="3224301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52500" y="3225254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Abfüllmaschinen &amp; Prozesssteuerung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28675" y="3517642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52500" y="3518594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Laborgeräte &amp; SAP-Systeme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KI ist kein Ersatz – es ist ein Werkzeug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571500" y="571500"/>
            <a:ext cx="76200" cy="600000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62000" y="571500"/>
            <a:ext cx="10801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Die verschiedenen Arten von KI-Modellen</a:t>
            </a:r>
            <a:endParaRPr b="1" sz="315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19"/>
          <p:cNvGrpSpPr/>
          <p:nvPr/>
        </p:nvGrpSpPr>
        <p:grpSpPr>
          <a:xfrm>
            <a:off x="571500" y="2314575"/>
            <a:ext cx="3486300" cy="3190800"/>
            <a:chOff x="0" y="0"/>
            <a:chExt cx="3486300" cy="3190800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3486300" cy="3190800"/>
            </a:xfrm>
            <a:prstGeom prst="roundRect">
              <a:avLst>
                <a:gd fmla="val 35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0" y="425691"/>
              <a:ext cx="3486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0">
                  <a:solidFill>
                    <a:srgbClr val="00A36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3060">
                <a:solidFill>
                  <a:srgbClr val="00A36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190500" y="1047750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LLMs (Sprachmodelle)</a:t>
              </a:r>
              <a:endParaRPr b="1" sz="19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285750" y="1714500"/>
              <a:ext cx="291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Verstehen und generieren Texte, beantworten Fragen und fassen Informationen zusammen (z.B. ChatGPT).</a:t>
              </a:r>
              <a:endParaRPr b="0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8" name="Google Shape;168;p19"/>
          <p:cNvGrpSpPr/>
          <p:nvPr/>
        </p:nvGrpSpPr>
        <p:grpSpPr>
          <a:xfrm>
            <a:off x="4343400" y="2314575"/>
            <a:ext cx="3486300" cy="3190800"/>
            <a:chOff x="0" y="0"/>
            <a:chExt cx="3486300" cy="3190800"/>
          </a:xfrm>
        </p:grpSpPr>
        <p:sp>
          <p:nvSpPr>
            <p:cNvPr id="169" name="Google Shape;169;p19"/>
            <p:cNvSpPr/>
            <p:nvPr/>
          </p:nvSpPr>
          <p:spPr>
            <a:xfrm>
              <a:off x="0" y="0"/>
              <a:ext cx="3486300" cy="3190800"/>
            </a:xfrm>
            <a:prstGeom prst="roundRect">
              <a:avLst>
                <a:gd fmla="val 35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0" y="425691"/>
              <a:ext cx="3486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0">
                  <a:solidFill>
                    <a:srgbClr val="00A36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image</a:t>
              </a:r>
              <a:endParaRPr sz="3060">
                <a:solidFill>
                  <a:srgbClr val="00A36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190500" y="1047750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Bildgenerierung</a:t>
              </a:r>
              <a:endParaRPr b="1" sz="19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285750" y="1714500"/>
              <a:ext cx="291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Erstellen realistische Bilder, Illustrationen oder Grafiken aus einfachen Textbeschreibungen (z.B. Midjourney).</a:t>
              </a:r>
              <a:endParaRPr b="0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8124825" y="2314575"/>
            <a:ext cx="3486300" cy="3190800"/>
            <a:chOff x="0" y="0"/>
            <a:chExt cx="3486300" cy="3190800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3486300" cy="3190800"/>
            </a:xfrm>
            <a:prstGeom prst="roundRect">
              <a:avLst>
                <a:gd fmla="val 35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0" y="425691"/>
              <a:ext cx="3486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0">
                  <a:solidFill>
                    <a:srgbClr val="00A36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060">
                <a:solidFill>
                  <a:srgbClr val="00A36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190500" y="1047750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  <a:endParaRPr b="1" sz="19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285750" y="1714500"/>
              <a:ext cx="291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Analysiert Datenmuster, um Vorhersagen zu treffen oder Prozesse zu optimieren (z.B. SAP-Prognosen).</a:t>
              </a:r>
              <a:endParaRPr b="0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02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0284"/>
            <a:ext cx="3555950" cy="3758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040284"/>
            <a:ext cx="3555950" cy="3758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40284"/>
            <a:ext cx="3555950" cy="375850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1094243" y="3945284"/>
            <a:ext cx="251031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ChatGPT (OpenAI)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57250" y="4669184"/>
            <a:ext cx="2984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Der Allrounder für Texte und kreative Ideen.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975711" y="3088034"/>
            <a:ext cx="22402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Gemini (Google)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603700" y="3811934"/>
            <a:ext cx="298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tegriert in Google Drive &amp; Suche.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517135" y="3088034"/>
            <a:ext cx="265033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Claude (Anthropic)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350150" y="3811934"/>
            <a:ext cx="2984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Besonders gut im Verstehen komplexer Zusammenhänge.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326034"/>
            <a:ext cx="29844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251" y="2373659"/>
            <a:ext cx="4572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176" y="237365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Die "Großen Drei" der Sprachmodelle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571500" y="571500"/>
            <a:ext cx="76200" cy="600000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762000" y="571500"/>
            <a:ext cx="10801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Verantwortungsbewusster Umgang</a:t>
            </a:r>
            <a:endParaRPr b="1" sz="315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571500" y="2314575"/>
            <a:ext cx="3486300" cy="3190800"/>
            <a:chOff x="0" y="0"/>
            <a:chExt cx="3486300" cy="3190800"/>
          </a:xfrm>
        </p:grpSpPr>
        <p:sp>
          <p:nvSpPr>
            <p:cNvPr id="204" name="Google Shape;204;p21"/>
            <p:cNvSpPr/>
            <p:nvPr/>
          </p:nvSpPr>
          <p:spPr>
            <a:xfrm>
              <a:off x="0" y="0"/>
              <a:ext cx="3486300" cy="3190800"/>
            </a:xfrm>
            <a:prstGeom prst="roundRect">
              <a:avLst>
                <a:gd fmla="val 35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1504950" y="385953"/>
              <a:ext cx="476400" cy="4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0">
                  <a:solidFill>
                    <a:srgbClr val="00A36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3060">
                <a:solidFill>
                  <a:srgbClr val="00A36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190500" y="1047750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AI Slop</a:t>
              </a:r>
              <a:endParaRPr b="1" sz="19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285750" y="1714500"/>
              <a:ext cx="291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Qualitätsverlust durch massenhaft generierte, minderwertige Inhalte ohne echten Mehrwert.</a:t>
              </a:r>
              <a:endParaRPr b="0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4343400" y="2314575"/>
            <a:ext cx="3486300" cy="3190800"/>
            <a:chOff x="0" y="0"/>
            <a:chExt cx="3486300" cy="3190800"/>
          </a:xfrm>
        </p:grpSpPr>
        <p:sp>
          <p:nvSpPr>
            <p:cNvPr id="209" name="Google Shape;209;p21"/>
            <p:cNvSpPr/>
            <p:nvPr/>
          </p:nvSpPr>
          <p:spPr>
            <a:xfrm>
              <a:off x="0" y="0"/>
              <a:ext cx="3486300" cy="3190800"/>
            </a:xfrm>
            <a:prstGeom prst="roundRect">
              <a:avLst>
                <a:gd fmla="val 35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1504950" y="385953"/>
              <a:ext cx="476400" cy="4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0">
                  <a:solidFill>
                    <a:srgbClr val="00A36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3060">
                <a:solidFill>
                  <a:srgbClr val="00A36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190500" y="1047750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Desinformation</a:t>
              </a:r>
              <a:endParaRPr b="1" sz="19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285750" y="1714500"/>
              <a:ext cx="291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KI kann Fakten erfinden (Halluzinationen) oder zur Verbreitung von Fake News genutzt werden.</a:t>
              </a:r>
              <a:endParaRPr b="0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3" name="Google Shape;213;p21"/>
          <p:cNvGrpSpPr/>
          <p:nvPr/>
        </p:nvGrpSpPr>
        <p:grpSpPr>
          <a:xfrm>
            <a:off x="8124825" y="2314575"/>
            <a:ext cx="3486300" cy="3190800"/>
            <a:chOff x="0" y="0"/>
            <a:chExt cx="3486300" cy="3190800"/>
          </a:xfrm>
        </p:grpSpPr>
        <p:sp>
          <p:nvSpPr>
            <p:cNvPr id="214" name="Google Shape;214;p21"/>
            <p:cNvSpPr/>
            <p:nvPr/>
          </p:nvSpPr>
          <p:spPr>
            <a:xfrm>
              <a:off x="0" y="0"/>
              <a:ext cx="3486300" cy="3190800"/>
            </a:xfrm>
            <a:prstGeom prst="roundRect">
              <a:avLst>
                <a:gd fmla="val 35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1"/>
            <p:cNvSpPr txBox="1"/>
            <p:nvPr/>
          </p:nvSpPr>
          <p:spPr>
            <a:xfrm>
              <a:off x="1504950" y="385953"/>
              <a:ext cx="476400" cy="4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60">
                  <a:solidFill>
                    <a:srgbClr val="00A36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face</a:t>
              </a:r>
              <a:endParaRPr sz="3060">
                <a:solidFill>
                  <a:srgbClr val="00A36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190500" y="1047750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03366"/>
                  </a:solidFill>
                  <a:latin typeface="Poppins"/>
                  <a:ea typeface="Poppins"/>
                  <a:cs typeface="Poppins"/>
                  <a:sym typeface="Poppins"/>
                </a:rPr>
                <a:t>Deepfakes</a:t>
              </a:r>
              <a:endParaRPr b="1" sz="19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285750" y="1714500"/>
              <a:ext cx="2914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Täuschend echte Manipulationen von Bildern, Audio und Videos zur Täuschung.</a:t>
              </a:r>
              <a:endParaRPr b="0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A conceptual digital pattern showing distorted data fragments and warning symbols, very subtle and professional, fading into the background.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953000"/>
            <a:ext cx="12192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title="Ich...bin ein Prompt. #deepfake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title="Die Öffentlich-Rechtlichen fallen auf meine KI rein... 🤭 #örr #medien #bayerischerrundfunk #a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3165"/>
            <a:ext cx="5381625" cy="2432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03165"/>
            <a:ext cx="5381625" cy="243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1882140" y="2988915"/>
            <a:ext cx="27603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Vom Reden zum Tun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857250" y="3712815"/>
            <a:ext cx="48101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Bisher haben KIs nur geantwortet. Durch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MCP-Server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(Model Context Protocol) erhalten sie einen "Werkzeugkoffer".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894558" y="2988915"/>
            <a:ext cx="20702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Echte Assistenz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524625" y="3712815"/>
            <a:ext cx="48102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Die KI kann nun Dateien bearbeiten, in deine</a:t>
            </a:r>
            <a:r>
              <a:rPr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 Dateien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suchen oder eigenständig Code auf deinem Computer schreiben.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Der nächste Schritt: KI, die handelt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571500" y="1828948"/>
            <a:ext cx="52006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Praxis-Beispiel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571500" y="3010048"/>
            <a:ext cx="49530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Wir bauen gemeinsam ein Spiel: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Molkerei-Tycoon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571500" y="4232820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Ganz ohne Programmieren – nur mit der Kraft deiner Beschreibung.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32" y="3379217"/>
            <a:ext cx="2430660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874615"/>
            <a:ext cx="2430660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60" y="3356281"/>
            <a:ext cx="2430660" cy="2089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874615"/>
            <a:ext cx="2430660" cy="20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571500" y="3919388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610745" y="3451531"/>
            <a:ext cx="23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1. Planung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1672530" y="382300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A36C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666750" y="4261156"/>
            <a:ext cx="22401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Idee &amp; Schwierigkeitsgrade festlegen.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3483426" y="3451531"/>
            <a:ext cx="23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2. Rollenspiel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4545210" y="382300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A36C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3539430" y="4261156"/>
            <a:ext cx="224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Umgebung &amp; Ziele präzise beschreiben.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356106" y="3451531"/>
            <a:ext cx="23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3. Umsetzung</a:t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7417891" y="382300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A36C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6412110" y="4261156"/>
            <a:ext cx="224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Gemini generiert den Code.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9228787" y="3451531"/>
            <a:ext cx="2352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4. Test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10290571" y="3823006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A36C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9284791" y="4261156"/>
            <a:ext cx="224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Funktioniert alles? Revision &amp; Feinschliff.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Vom Prompt zum Programm</a:t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Die Barriere ist weg</a:t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4503300" y="3027025"/>
            <a:ext cx="7688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Kein Studium nötig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4503300" y="3512794"/>
            <a:ext cx="7322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 musst nicht mehr studieren, um </a:t>
            </a:r>
            <a:r>
              <a:rPr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neues zu erschaffen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Du musst nur wissen,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was du willst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und es präzise beschreiben können.</a:t>
            </a:r>
            <a:endParaRPr/>
          </a:p>
        </p:txBody>
      </p:sp>
      <p:pic>
        <p:nvPicPr>
          <p:cNvPr descr="ein bild, dass den blauen himmel im hintergrund hat und hände, die einen Diplomhut werfen" id="285" name="Google Shape;2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75" y="1637050"/>
            <a:ext cx="3731400" cy="3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/>
          <p:nvPr/>
        </p:nvSpPr>
        <p:spPr>
          <a:xfrm>
            <a:off x="571500" y="2662237"/>
            <a:ext cx="11049000" cy="2514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28"/>
          <p:cNvGraphicFramePr/>
          <p:nvPr/>
        </p:nvGraphicFramePr>
        <p:xfrm>
          <a:off x="571500" y="2662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{6B24F21E-8286-446F-8265-6D47CA057B2A}</a:tableStyleId>
              </a:tblPr>
              <a:tblGrid>
                <a:gridCol w="2111425"/>
                <a:gridCol w="8937575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Regelung ab August 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Kennzeichnung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Inhalte, die durch KI erstellt wurden, müssen als solche markiert werden.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Transparenz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Nutzer müssen wissen, wenn sie mit einer KI interagieren (z.B. Chatbots).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Verantwortung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Als Firma tragen wir die Verantwortung für die Ergebnisse, die wir veröffentlichen.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3" name="Google Shape;293;p28"/>
          <p:cNvSpPr/>
          <p:nvPr/>
        </p:nvSpPr>
        <p:spPr>
          <a:xfrm>
            <a:off x="571500" y="3924300"/>
            <a:ext cx="2111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2682924" y="3924300"/>
            <a:ext cx="8937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571500" y="4543425"/>
            <a:ext cx="2111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2682924" y="4543425"/>
            <a:ext cx="8937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571500" y="5162550"/>
            <a:ext cx="21114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2682924" y="5162550"/>
            <a:ext cx="8937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Rechtliche Leitplanken (EU AI Act)</a:t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76650"/>
            <a:ext cx="11049000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295275" y="128021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Fragen &amp; Ausblick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2286000" y="2708969"/>
            <a:ext cx="7620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 wird Jobs verändern. Aber der Mensch, der KI bedienen kann, wird den Menschen ersetzen, der es nicht kann.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595312" y="4010025"/>
            <a:ext cx="11001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Dein Start für morgen: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857250" y="4495800"/>
            <a:ext cx="1047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Lade ChatGPT oder Claude. Frage: "Ich bin Molkereifachmann und suche einen Job in der </a:t>
            </a:r>
            <a:r>
              <a:rPr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Produktion 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– wie verkaufe ich meine Erfahrung am besten?"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8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/>
          <p:nvPr/>
        </p:nvSpPr>
        <p:spPr>
          <a:xfrm>
            <a:off x="571500" y="1552575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571500" y="245521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571500" y="3226742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571500" y="412938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571500" y="4900910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571500" y="24456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571500" y="24456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571500" y="3217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571500" y="3217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571500" y="41198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71500" y="41198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571500" y="48913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71500" y="48913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571500" y="57940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571500" y="57940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1" name="Google Shape;33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09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1666875" y="169545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https://eu-images.contentstack.com/v3/assets/bltdd43779342bd9107/blt0fbf2c5998cf2bcd/67d98140521a241680d32cc0/0317W1-1926-LEAD-1800x1012.jpg?disable=upscale&amp;width=1200&amp;height=630&amp;fit=crop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1666875" y="208954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www.farmprogress.com</a:t>
            </a:r>
            <a:endParaRPr/>
          </a:p>
        </p:txBody>
      </p:sp>
      <p:pic>
        <p:nvPicPr>
          <p:cNvPr descr="image.png" id="334" name="Google Shape;33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980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0"/>
          <p:cNvSpPr txBox="1"/>
          <p:nvPr/>
        </p:nvSpPr>
        <p:spPr>
          <a:xfrm>
            <a:off x="1666875" y="261907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https://img.freepik.com/premium-photo/futuristic-pen-3d-illustration-digital-design-modern-technology-scifi-gadget_1233553-37815.jpg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1666875" y="283993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337" name="Google Shape;33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351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0"/>
          <p:cNvSpPr txBox="1"/>
          <p:nvPr/>
        </p:nvSpPr>
        <p:spPr>
          <a:xfrm>
            <a:off x="1666875" y="3369617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https://substackcdn.com/image/fetch/$s_!NaYX!,f_auto,q_auto:good,fl_progressive:steep/https%3A%2F%2Fsubstack-post-media.s3.amazonaws.com%2Fpublic%2Fimages%2F0ccfeaf0-5b48-46d2-976e-30d45285bce1_1600x982.png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1666875" y="376371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wondertools.substack.com</a:t>
            </a:r>
            <a:endParaRPr/>
          </a:p>
        </p:txBody>
      </p:sp>
      <p:pic>
        <p:nvPicPr>
          <p:cNvPr descr="image.png" id="340" name="Google Shape;34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722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1666875" y="42932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https://www.dairyfoods.com/ext/resources/2025/07/18/Diner-Tycoon.webp?t=1752855272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1666875" y="45141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www.dairyfoods.com</a:t>
            </a:r>
            <a:endParaRPr/>
          </a:p>
        </p:txBody>
      </p:sp>
      <p:pic>
        <p:nvPicPr>
          <p:cNvPr descr="image.png" id="343" name="Google Shape;34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092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0"/>
          <p:cNvSpPr txBox="1"/>
          <p:nvPr/>
        </p:nvSpPr>
        <p:spPr>
          <a:xfrm>
            <a:off x="1666875" y="504378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http://static1.squarespace.com/static/5bf5462a710699811c5b4fe4/5c700463e5e5f086a07555d3/61e59dc22383a6347d649b27/1669033979902/20210204-Lettusgrow-50.jpg?format=1500w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1666875" y="543788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www.lettusgrow.com</a:t>
            </a:r>
            <a:endParaRPr/>
          </a:p>
        </p:txBody>
      </p:sp>
      <p:pic>
        <p:nvPicPr>
          <p:cNvPr descr="image.png" id="346" name="Google Shape;346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9464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1666875" y="596741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https://collegian.com/wp-content/uploads/2026/04/04_22_26_AI-in-the-Workplace_JStarks_9-1200x799.jpg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1666875" y="618827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collegian.com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762000" y="571500"/>
            <a:ext cx="10801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00A3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